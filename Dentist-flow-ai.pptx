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516332D5-91F5-7DA6-80D8-6E4F6CCE10A7}">
          <p14:sldIdLst>
            <p14:sldId id="256"/>
          </p14:sldIdLst>
        </p14:section>
        <p14:section name="Problem &amp; Solution" id="{C04A6E01-1AB8-75D0-0E9D-48A1F1A32A7E}">
          <p14:sldIdLst>
            <p14:sldId id="257"/>
            <p14:sldId id="258"/>
          </p14:sldIdLst>
        </p14:section>
        <p14:section name="Impact" id="{68B7731E-58C9-F5F3-6F19-22C25892511B}">
          <p14:sldIdLst>
            <p14:sldId id="259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50334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PK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914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1"/>
                </a:solidFill>
              </a:rPr>
              <a:t>HACKATHON SUBMISSION  |  SME HEALTHCARE AUTOMATION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4630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chemeClr val="bg1"/>
                </a:solidFill>
              </a:rPr>
              <a:t>Cairo Dental AI Concierge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46888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chemeClr val="bg2"/>
                </a:solidFill>
              </a:rPr>
              <a:t>Autonomous Multi-Domain Patient Ingestion &amp; Booking Agent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3474720"/>
            <a:ext cx="1097280" cy="45720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 txBox="1"/>
          <p:nvPr/>
        </p:nvSpPr>
        <p:spPr>
          <a:xfrm>
            <a:off x="731520" y="3657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[UROOJ ILYAS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The Target SME &amp; Problem Statement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743200" cy="3291840"/>
          </a:xfrm>
          <a:prstGeom prst="rect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 txBox="1"/>
          <p:nvPr/>
        </p:nvSpPr>
        <p:spPr>
          <a:xfrm>
            <a:off x="685800" y="1325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TARGET SME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3736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Upscale private dental clinics in Cairo, Egypt.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3474720" y="10972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Current Operational Bottlenecks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74720" y="1463040"/>
            <a:ext cx="5212080" cy="86868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Shape 6"/>
          <p:cNvSpPr/>
          <p:nvPr/>
        </p:nvSpPr>
        <p:spPr>
          <a:xfrm>
            <a:off x="3474720" y="1463040"/>
            <a:ext cx="73152" cy="868680"/>
          </a:xfrm>
          <a:prstGeom prst="rect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Text 7"/>
          <p:cNvSpPr txBox="1"/>
          <p:nvPr/>
        </p:nvSpPr>
        <p:spPr>
          <a:xfrm>
            <a:off x="3703320" y="153619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Manual Phone &amp; WhatsApp Management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703320" y="18288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Receptionists spend 20+ hours weekly answering repetitive queries regarding doctor schedules, treatment pricing, and slot availability.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0" y="2450592"/>
            <a:ext cx="5212080" cy="86868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2" name="Shape 10"/>
          <p:cNvSpPr/>
          <p:nvPr/>
        </p:nvSpPr>
        <p:spPr>
          <a:xfrm>
            <a:off x="3474720" y="2450592"/>
            <a:ext cx="73152" cy="868680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 txBox="1"/>
          <p:nvPr/>
        </p:nvSpPr>
        <p:spPr>
          <a:xfrm>
            <a:off x="3703320" y="252374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Lost After-Hours Revenue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703320" y="281635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Over 35% of patient booking inquiries occur outside working hours (8:00 PM – 9:00 AM) and go unanswered, resulting in high patient drop-off to competitors.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74720" y="3438144"/>
            <a:ext cx="5212080" cy="86868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6" name="Shape 14"/>
          <p:cNvSpPr/>
          <p:nvPr/>
        </p:nvSpPr>
        <p:spPr>
          <a:xfrm>
            <a:off x="3474720" y="3438144"/>
            <a:ext cx="73152" cy="868680"/>
          </a:xfrm>
          <a:prstGeom prst="rect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 txBox="1"/>
          <p:nvPr/>
        </p:nvSpPr>
        <p:spPr>
          <a:xfrm>
            <a:off x="3703320" y="351129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Double-Booking &amp; Human Error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703320" y="380390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Manual schedule entry leads to scheduling conflicts, missed follow-ups, and fragmented patient records.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The AI Solution &amp; Workflow Replacement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3"/>
                </a:solidFill>
              </a:rPr>
              <a:t>OLD WORKFLOW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463040" cy="82296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 txBox="1"/>
          <p:nvPr/>
        </p:nvSpPr>
        <p:spPr>
          <a:xfrm>
            <a:off x="530352" y="1325880"/>
            <a:ext cx="13167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Patient sends message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1325880"/>
            <a:ext cx="228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accent5"/>
                </a:solidFill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148840" y="1325880"/>
            <a:ext cx="1463040" cy="82296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 txBox="1"/>
          <p:nvPr/>
        </p:nvSpPr>
        <p:spPr>
          <a:xfrm>
            <a:off x="2221992" y="1325880"/>
            <a:ext cx="13167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Receptionist checks paper/spreadsheet calendar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611880" y="1325880"/>
            <a:ext cx="228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accent5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40480" y="1325880"/>
            <a:ext cx="1463040" cy="82296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 txBox="1"/>
          <p:nvPr/>
        </p:nvSpPr>
        <p:spPr>
          <a:xfrm>
            <a:off x="3913632" y="1325880"/>
            <a:ext cx="13167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Back-and-forth negotiation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0" y="1325880"/>
            <a:ext cx="228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accent5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532120" y="1325880"/>
            <a:ext cx="1463040" cy="82296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 txBox="1"/>
          <p:nvPr/>
        </p:nvSpPr>
        <p:spPr>
          <a:xfrm>
            <a:off x="5605272" y="1325880"/>
            <a:ext cx="13167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Manual calendar entry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995160" y="1325880"/>
            <a:ext cx="228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accent5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223760" y="1325880"/>
            <a:ext cx="1463040" cy="82296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 txBox="1"/>
          <p:nvPr/>
        </p:nvSpPr>
        <p:spPr>
          <a:xfrm>
            <a:off x="7296912" y="1325880"/>
            <a:ext cx="13167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High drop-off rate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23774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NEW AUTONOMOUS AGENT WORKFLOW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651760"/>
            <a:ext cx="1828800" cy="91440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0" name="Text 18"/>
          <p:cNvSpPr txBox="1"/>
          <p:nvPr/>
        </p:nvSpPr>
        <p:spPr>
          <a:xfrm>
            <a:off x="548640" y="265176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Patient interacts with AI Agent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2286000" y="2651760"/>
            <a:ext cx="3044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accent5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2590495" y="2651760"/>
            <a:ext cx="1828800" cy="91440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3" name="Text 21"/>
          <p:cNvSpPr txBox="1"/>
          <p:nvPr/>
        </p:nvSpPr>
        <p:spPr>
          <a:xfrm>
            <a:off x="2681935" y="265176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Agent checks live Airtable Services &amp; Doctors tables to answer queries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419295" y="2651760"/>
            <a:ext cx="3044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accent5"/>
                </a:solidFill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4723790" y="2651760"/>
            <a:ext cx="1828800" cy="91440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6" name="Text 24"/>
          <p:cNvSpPr txBox="1"/>
          <p:nvPr/>
        </p:nvSpPr>
        <p:spPr>
          <a:xfrm>
            <a:off x="4815230" y="265176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Agent executes real-time Appointments search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552590" y="2651760"/>
            <a:ext cx="3044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accent5"/>
                </a:solidFill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857086" y="2651760"/>
            <a:ext cx="1828800" cy="91440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9" name="Text 27"/>
          <p:cNvSpPr txBox="1"/>
          <p:nvPr/>
        </p:nvSpPr>
        <p:spPr>
          <a:xfrm>
            <a:off x="6948526" y="265176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Agent books slot &amp; updates database live in &lt; 10 seconds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1" name="Text 29"/>
          <p:cNvSpPr txBox="1"/>
          <p:nvPr/>
        </p:nvSpPr>
        <p:spPr>
          <a:xfrm>
            <a:off x="685800" y="38404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Technical Highlights: </a:t>
            </a:r>
            <a:r>
              <a:rPr lang="en-US" sz="1300" dirty="0">
                <a:solidFill>
                  <a:schemeClr val="bg1"/>
                </a:solidFill>
              </a:rPr>
              <a:t>Built on n8n, Groq (LLaMA 3), and Airtable multi-table relational architecture with zero-loop deterministic tool calling.</a:t>
            </a:r>
            <a:endParaRPr lang="en-US" sz="13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Measured Business Impact (ROI &amp; Metrics)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329184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73152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 txBox="1"/>
          <p:nvPr/>
        </p:nvSpPr>
        <p:spPr>
          <a:xfrm>
            <a:off x="640080" y="1325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5"/>
                </a:solidFill>
              </a:rPr>
              <a:t>TIME SAVED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18 Hours/Week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24028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returned to clinical staff by automating routine inquiry handling and schedule management.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097280"/>
            <a:ext cx="2651760" cy="329184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Shape 7"/>
          <p:cNvSpPr/>
          <p:nvPr/>
        </p:nvSpPr>
        <p:spPr>
          <a:xfrm>
            <a:off x="3246120" y="1097280"/>
            <a:ext cx="2651760" cy="73152"/>
          </a:xfrm>
          <a:prstGeom prst="rect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 txBox="1"/>
          <p:nvPr/>
        </p:nvSpPr>
        <p:spPr>
          <a:xfrm>
            <a:off x="3429000" y="1325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5"/>
                </a:solidFill>
              </a:rPr>
              <a:t>COST SAVED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737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$1,200+/Month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224028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in operational overhead saved by removing the need for 24/7 outsourced call center support.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097280"/>
            <a:ext cx="2651760" cy="329184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Shape 12"/>
          <p:cNvSpPr/>
          <p:nvPr/>
        </p:nvSpPr>
        <p:spPr>
          <a:xfrm>
            <a:off x="6035040" y="1097280"/>
            <a:ext cx="2651760" cy="73152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5" name="Text 13"/>
          <p:cNvSpPr txBox="1"/>
          <p:nvPr/>
        </p:nvSpPr>
        <p:spPr>
          <a:xfrm>
            <a:off x="6217920" y="1325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5"/>
                </a:solidFill>
              </a:rPr>
              <a:t>REVENUE GENERATED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1737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30%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22402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Increase in Booking Conversions by converting late-night inquiries instantly without human lag.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3108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+$4,500/Month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36118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Estimated incremental treatment revenue captured from instant booking confirmations.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Live Demonstration &amp; System Architecture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System Architecture Overview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828800" cy="210312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828800" cy="457200"/>
          </a:xfrm>
          <a:prstGeom prst="rect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 txBox="1"/>
          <p:nvPr/>
        </p:nvSpPr>
        <p:spPr>
          <a:xfrm>
            <a:off x="457200" y="1371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chemeClr val="bg1"/>
                </a:solidFill>
              </a:rPr>
              <a:t>TRIGGER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965960"/>
            <a:ext cx="1554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Multi-channel Webhook / Chat Trigger.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286000" y="1371600"/>
            <a:ext cx="30449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accent5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590495" y="1371600"/>
            <a:ext cx="1828800" cy="210312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Shape 8"/>
          <p:cNvSpPr/>
          <p:nvPr/>
        </p:nvSpPr>
        <p:spPr>
          <a:xfrm>
            <a:off x="2590495" y="1371600"/>
            <a:ext cx="1828800" cy="45720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 txBox="1"/>
          <p:nvPr/>
        </p:nvSpPr>
        <p:spPr>
          <a:xfrm>
            <a:off x="2590495" y="1371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chemeClr val="bg1"/>
                </a:solidFill>
              </a:rPr>
              <a:t>BRAIN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727655" y="1965960"/>
            <a:ext cx="1554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Groq LLaMA 3 Agent with Window Buffer Memory.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419295" y="1371600"/>
            <a:ext cx="30449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accent5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723790" y="1371600"/>
            <a:ext cx="1828800" cy="210312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5" name="Shape 13"/>
          <p:cNvSpPr/>
          <p:nvPr/>
        </p:nvSpPr>
        <p:spPr>
          <a:xfrm>
            <a:off x="4723790" y="1371600"/>
            <a:ext cx="1828800" cy="457200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 txBox="1"/>
          <p:nvPr/>
        </p:nvSpPr>
        <p:spPr>
          <a:xfrm>
            <a:off x="4723790" y="1371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chemeClr val="bg1"/>
                </a:solidFill>
              </a:rPr>
              <a:t>TOOLBOX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860950" y="1965960"/>
            <a:ext cx="1554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4 Specialized Tools: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search_appointments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update_appointment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search_doctors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search_services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552590" y="1371600"/>
            <a:ext cx="30449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accent5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857086" y="1371600"/>
            <a:ext cx="1828800" cy="210312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0" name="Shape 18"/>
          <p:cNvSpPr/>
          <p:nvPr/>
        </p:nvSpPr>
        <p:spPr>
          <a:xfrm>
            <a:off x="6857086" y="1371600"/>
            <a:ext cx="1828800" cy="457200"/>
          </a:xfrm>
          <a:prstGeom prst="rect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1" name="Text 19"/>
          <p:cNvSpPr txBox="1"/>
          <p:nvPr/>
        </p:nvSpPr>
        <p:spPr>
          <a:xfrm>
            <a:off x="6857086" y="1371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chemeClr val="bg1"/>
                </a:solidFill>
              </a:rPr>
              <a:t>DATA LAYER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994246" y="1965960"/>
            <a:ext cx="1554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Airtable Relational CRM.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749040"/>
            <a:ext cx="8229600" cy="731520"/>
          </a:xfrm>
          <a:prstGeom prst="rect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4" name="Text 22"/>
          <p:cNvSpPr txBox="1"/>
          <p:nvPr/>
        </p:nvSpPr>
        <p:spPr>
          <a:xfrm>
            <a:off x="685800" y="37490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Live Agent Verification: </a:t>
            </a:r>
            <a:r>
              <a:rPr lang="en-US" sz="1400" dirty="0">
                <a:solidFill>
                  <a:schemeClr val="bg1"/>
                </a:solidFill>
              </a:rPr>
              <a:t>100% functional, end-to-end verified demo ready for judge testing.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iroDental">
  <a:themeElements>
    <a:clrScheme name="CairoDental">
      <a:dk1>
        <a:srgbClr val="0B2545"/>
      </a:dk1>
      <a:lt1>
        <a:srgbClr val="FFFFFF"/>
      </a:lt1>
      <a:dk2>
        <a:srgbClr val="1F3A5F"/>
      </a:dk2>
      <a:lt2>
        <a:srgbClr val="EEF4F8"/>
      </a:lt2>
      <a:accent1>
        <a:srgbClr val="13A89E"/>
      </a:accent1>
      <a:accent2>
        <a:srgbClr val="F5A524"/>
      </a:accent2>
      <a:accent3>
        <a:srgbClr val="D64550"/>
      </a:accent3>
      <a:accent4>
        <a:srgbClr val="3B82C4"/>
      </a:accent4>
      <a:accent5>
        <a:srgbClr val="6B7C93"/>
      </a:accent5>
      <a:accent6>
        <a:srgbClr val="2E9E6B"/>
      </a:accent6>
      <a:hlink>
        <a:srgbClr val="3B82C4"/>
      </a:hlink>
      <a:folHlink>
        <a:srgbClr val="6B7C93"/>
      </a:folHlink>
    </a:clrScheme>
    <a:fontScheme name="CairoDental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364</Words>
  <Application>Microsoft Office PowerPoint</Application>
  <PresentationFormat>On-screen Show (16:9)</PresentationFormat>
  <Paragraphs>73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CairoDental</vt:lpstr>
      <vt:lpstr>PowerPoint Presentation</vt:lpstr>
      <vt:lpstr>The Target SME &amp; Problem Statement</vt:lpstr>
      <vt:lpstr>The AI Solution &amp; Workflow Replacement</vt:lpstr>
      <vt:lpstr>Measured Business Impact (ROI &amp; Metrics)</vt:lpstr>
      <vt:lpstr>Live Demonstration &amp; System Architecture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Cairo Dental AI Concierge</dc:title>
  <dc:subject>PptxGenJS Presentation</dc:subject>
  <dc:creator>PptxGenJS</dc:creator>
  <cp:lastModifiedBy>02-131232-107</cp:lastModifiedBy>
  <cp:revision>2</cp:revision>
  <dcterms:created xsi:type="dcterms:W3CDTF">2026-10-10T20:10:28Z</dcterms:created>
  <dcterms:modified xsi:type="dcterms:W3CDTF">2026-10-10T20:27:33Z</dcterms:modified>
</cp:coreProperties>
</file>